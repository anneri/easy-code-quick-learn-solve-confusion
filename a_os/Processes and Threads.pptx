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6" d="100"/>
          <a:sy n="86" d="100"/>
        </p:scale>
        <p:origin x="9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D9E59DF-A416-4132-BD7D-A5FF8B541A7E}" type="datetimeFigureOut">
              <a:rPr lang="en-US" smtClean="0"/>
              <a:t>25/09/2018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71064E-EA21-471B-A540-0A066DDF0265}" type="slidenum">
              <a:rPr lang="en-US" smtClean="0"/>
              <a:t>‹#›</a:t>
            </a:fld>
            <a:endParaRPr lang="en-US"/>
          </a:p>
        </p:txBody>
      </p:sp>
    </p:spTree>
    <p:extLst>
      <p:ext uri="{BB962C8B-B14F-4D97-AF65-F5344CB8AC3E}">
        <p14:creationId xmlns:p14="http://schemas.microsoft.com/office/powerpoint/2010/main" val="2335013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D9E59DF-A416-4132-BD7D-A5FF8B541A7E}" type="datetimeFigureOut">
              <a:rPr lang="en-US" smtClean="0"/>
              <a:t>25/09/2018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71064E-EA21-471B-A540-0A066DDF0265}" type="slidenum">
              <a:rPr lang="en-US" smtClean="0"/>
              <a:t>‹#›</a:t>
            </a:fld>
            <a:endParaRPr lang="en-US"/>
          </a:p>
        </p:txBody>
      </p:sp>
    </p:spTree>
    <p:extLst>
      <p:ext uri="{BB962C8B-B14F-4D97-AF65-F5344CB8AC3E}">
        <p14:creationId xmlns:p14="http://schemas.microsoft.com/office/powerpoint/2010/main" val="2905813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D9E59DF-A416-4132-BD7D-A5FF8B541A7E}" type="datetimeFigureOut">
              <a:rPr lang="en-US" smtClean="0"/>
              <a:t>25/09/2018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71064E-EA21-471B-A540-0A066DDF0265}" type="slidenum">
              <a:rPr lang="en-US" smtClean="0"/>
              <a:t>‹#›</a:t>
            </a:fld>
            <a:endParaRPr lang="en-US"/>
          </a:p>
        </p:txBody>
      </p:sp>
    </p:spTree>
    <p:extLst>
      <p:ext uri="{BB962C8B-B14F-4D97-AF65-F5344CB8AC3E}">
        <p14:creationId xmlns:p14="http://schemas.microsoft.com/office/powerpoint/2010/main" val="3922492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D9E59DF-A416-4132-BD7D-A5FF8B541A7E}" type="datetimeFigureOut">
              <a:rPr lang="en-US" smtClean="0"/>
              <a:t>25/09/2018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71064E-EA21-471B-A540-0A066DDF0265}" type="slidenum">
              <a:rPr lang="en-US" smtClean="0"/>
              <a:t>‹#›</a:t>
            </a:fld>
            <a:endParaRPr lang="en-US"/>
          </a:p>
        </p:txBody>
      </p:sp>
    </p:spTree>
    <p:extLst>
      <p:ext uri="{BB962C8B-B14F-4D97-AF65-F5344CB8AC3E}">
        <p14:creationId xmlns:p14="http://schemas.microsoft.com/office/powerpoint/2010/main" val="2194822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D9E59DF-A416-4132-BD7D-A5FF8B541A7E}" type="datetimeFigureOut">
              <a:rPr lang="en-US" smtClean="0"/>
              <a:t>25/09/2018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71064E-EA21-471B-A540-0A066DDF0265}" type="slidenum">
              <a:rPr lang="en-US" smtClean="0"/>
              <a:t>‹#›</a:t>
            </a:fld>
            <a:endParaRPr lang="en-US"/>
          </a:p>
        </p:txBody>
      </p:sp>
    </p:spTree>
    <p:extLst>
      <p:ext uri="{BB962C8B-B14F-4D97-AF65-F5344CB8AC3E}">
        <p14:creationId xmlns:p14="http://schemas.microsoft.com/office/powerpoint/2010/main" val="1521705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D9E59DF-A416-4132-BD7D-A5FF8B541A7E}" type="datetimeFigureOut">
              <a:rPr lang="en-US" smtClean="0"/>
              <a:t>25/09/2018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71064E-EA21-471B-A540-0A066DDF0265}" type="slidenum">
              <a:rPr lang="en-US" smtClean="0"/>
              <a:t>‹#›</a:t>
            </a:fld>
            <a:endParaRPr lang="en-US"/>
          </a:p>
        </p:txBody>
      </p:sp>
    </p:spTree>
    <p:extLst>
      <p:ext uri="{BB962C8B-B14F-4D97-AF65-F5344CB8AC3E}">
        <p14:creationId xmlns:p14="http://schemas.microsoft.com/office/powerpoint/2010/main" val="2291034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9E59DF-A416-4132-BD7D-A5FF8B541A7E}" type="datetimeFigureOut">
              <a:rPr lang="en-US" smtClean="0"/>
              <a:t>25/09/2018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71064E-EA21-471B-A540-0A066DDF0265}" type="slidenum">
              <a:rPr lang="en-US" smtClean="0"/>
              <a:t>‹#›</a:t>
            </a:fld>
            <a:endParaRPr lang="en-US"/>
          </a:p>
        </p:txBody>
      </p:sp>
    </p:spTree>
    <p:extLst>
      <p:ext uri="{BB962C8B-B14F-4D97-AF65-F5344CB8AC3E}">
        <p14:creationId xmlns:p14="http://schemas.microsoft.com/office/powerpoint/2010/main" val="4060357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D9E59DF-A416-4132-BD7D-A5FF8B541A7E}" type="datetimeFigureOut">
              <a:rPr lang="en-US" smtClean="0"/>
              <a:t>25/09/2018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71064E-EA21-471B-A540-0A066DDF0265}" type="slidenum">
              <a:rPr lang="en-US" smtClean="0"/>
              <a:t>‹#›</a:t>
            </a:fld>
            <a:endParaRPr lang="en-US"/>
          </a:p>
        </p:txBody>
      </p:sp>
    </p:spTree>
    <p:extLst>
      <p:ext uri="{BB962C8B-B14F-4D97-AF65-F5344CB8AC3E}">
        <p14:creationId xmlns:p14="http://schemas.microsoft.com/office/powerpoint/2010/main" val="3127138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D9E59DF-A416-4132-BD7D-A5FF8B541A7E}" type="datetimeFigureOut">
              <a:rPr lang="en-US" smtClean="0"/>
              <a:t>25/09/2018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71064E-EA21-471B-A540-0A066DDF0265}" type="slidenum">
              <a:rPr lang="en-US" smtClean="0"/>
              <a:t>‹#›</a:t>
            </a:fld>
            <a:endParaRPr lang="en-US"/>
          </a:p>
        </p:txBody>
      </p:sp>
    </p:spTree>
    <p:extLst>
      <p:ext uri="{BB962C8B-B14F-4D97-AF65-F5344CB8AC3E}">
        <p14:creationId xmlns:p14="http://schemas.microsoft.com/office/powerpoint/2010/main" val="2226063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D9E59DF-A416-4132-BD7D-A5FF8B541A7E}" type="datetimeFigureOut">
              <a:rPr lang="en-US" smtClean="0"/>
              <a:t>25/09/2018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71064E-EA21-471B-A540-0A066DDF0265}" type="slidenum">
              <a:rPr lang="en-US" smtClean="0"/>
              <a:t>‹#›</a:t>
            </a:fld>
            <a:endParaRPr lang="en-US"/>
          </a:p>
        </p:txBody>
      </p:sp>
    </p:spTree>
    <p:extLst>
      <p:ext uri="{BB962C8B-B14F-4D97-AF65-F5344CB8AC3E}">
        <p14:creationId xmlns:p14="http://schemas.microsoft.com/office/powerpoint/2010/main" val="112863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D9E59DF-A416-4132-BD7D-A5FF8B541A7E}" type="datetimeFigureOut">
              <a:rPr lang="en-US" smtClean="0"/>
              <a:t>25/09/2018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71064E-EA21-471B-A540-0A066DDF0265}" type="slidenum">
              <a:rPr lang="en-US" smtClean="0"/>
              <a:t>‹#›</a:t>
            </a:fld>
            <a:endParaRPr lang="en-US"/>
          </a:p>
        </p:txBody>
      </p:sp>
    </p:spTree>
    <p:extLst>
      <p:ext uri="{BB962C8B-B14F-4D97-AF65-F5344CB8AC3E}">
        <p14:creationId xmlns:p14="http://schemas.microsoft.com/office/powerpoint/2010/main" val="162671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9E59DF-A416-4132-BD7D-A5FF8B541A7E}" type="datetimeFigureOut">
              <a:rPr lang="en-US" smtClean="0"/>
              <a:t>25/09/2018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71064E-EA21-471B-A540-0A066DDF0265}" type="slidenum">
              <a:rPr lang="en-US" smtClean="0"/>
              <a:t>‹#›</a:t>
            </a:fld>
            <a:endParaRPr lang="en-US"/>
          </a:p>
        </p:txBody>
      </p:sp>
    </p:spTree>
    <p:extLst>
      <p:ext uri="{BB962C8B-B14F-4D97-AF65-F5344CB8AC3E}">
        <p14:creationId xmlns:p14="http://schemas.microsoft.com/office/powerpoint/2010/main" val="8644820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Processes and Threads</a:t>
            </a:r>
            <a:br>
              <a:rPr lang="en-US" b="1" dirty="0"/>
            </a:b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083530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Processes and Threads</a:t>
            </a:r>
            <a:br>
              <a:rPr lang="en-US" b="1" dirty="0"/>
            </a:br>
            <a:endParaRPr lang="en-US" dirty="0"/>
          </a:p>
        </p:txBody>
      </p:sp>
      <p:sp>
        <p:nvSpPr>
          <p:cNvPr id="3" name="Content Placeholder 2"/>
          <p:cNvSpPr>
            <a:spLocks noGrp="1"/>
          </p:cNvSpPr>
          <p:nvPr>
            <p:ph idx="1"/>
          </p:nvPr>
        </p:nvSpPr>
        <p:spPr/>
        <p:txBody>
          <a:bodyPr>
            <a:normAutofit fontScale="70000" lnSpcReduction="20000"/>
          </a:bodyPr>
          <a:lstStyle/>
          <a:p>
            <a:r>
              <a:rPr lang="en-US" dirty="0"/>
              <a:t>A </a:t>
            </a:r>
            <a:r>
              <a:rPr lang="en-US" i="1" dirty="0"/>
              <a:t>process</a:t>
            </a:r>
            <a:r>
              <a:rPr lang="en-US" dirty="0"/>
              <a:t> is an instance of program execution. This means, for example, that if you open up two browser windows then you have two processes, even though they are running the same program.</a:t>
            </a:r>
          </a:p>
          <a:p>
            <a:r>
              <a:rPr lang="en-US" dirty="0"/>
              <a:t>The life-cycle of a process can be described by a state diagram which has states representing the execution status of the process at various times and transitions that represent changes in execution status.</a:t>
            </a:r>
          </a:p>
          <a:p>
            <a:r>
              <a:rPr lang="en-US" dirty="0"/>
              <a:t>The operating system maintains management information about a process in a process control block (PCB). Modern operating systems allow a process to be divided into multiple threads of execution, which share all process management information except for information directly related to execution. This information is held in a thread control block (TCB).</a:t>
            </a:r>
          </a:p>
          <a:p>
            <a:r>
              <a:rPr lang="en-US" dirty="0"/>
              <a:t>Threads in a process can execute different parts of the program code at the same time. They can also execute the same parts of the code at the same time, but with different execution state:</a:t>
            </a:r>
          </a:p>
          <a:p>
            <a:r>
              <a:rPr lang="en-US" dirty="0"/>
              <a:t>They have independent current instructions; that is, they have (or appear to have) independent program counters.</a:t>
            </a:r>
          </a:p>
          <a:p>
            <a:r>
              <a:rPr lang="en-US" dirty="0"/>
              <a:t>They are working with different data; that is, they are (or appear to be) working with independent registers.</a:t>
            </a:r>
          </a:p>
          <a:p>
            <a:endParaRPr lang="en-US" dirty="0"/>
          </a:p>
        </p:txBody>
      </p:sp>
    </p:spTree>
    <p:extLst>
      <p:ext uri="{BB962C8B-B14F-4D97-AF65-F5344CB8AC3E}">
        <p14:creationId xmlns:p14="http://schemas.microsoft.com/office/powerpoint/2010/main" val="763230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State Diagram</a:t>
            </a:r>
            <a:br>
              <a:rPr lang="en-US" b="1" dirty="0"/>
            </a:b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881312" y="2643981"/>
            <a:ext cx="6429375" cy="2714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14278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State Diagram</a:t>
            </a:r>
            <a:br>
              <a:rPr lang="en-US" b="1" dirty="0"/>
            </a:b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726766" y="1897006"/>
            <a:ext cx="6429375" cy="27146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953295" y="4611631"/>
            <a:ext cx="6096000" cy="2031325"/>
          </a:xfrm>
          <a:prstGeom prst="rect">
            <a:avLst/>
          </a:prstGeom>
        </p:spPr>
        <p:txBody>
          <a:bodyPr>
            <a:spAutoFit/>
          </a:bodyPr>
          <a:lstStyle/>
          <a:p>
            <a:r>
              <a:rPr lang="en-US" b="0" i="0" dirty="0" smtClean="0">
                <a:solidFill>
                  <a:srgbClr val="000000"/>
                </a:solidFill>
                <a:effectLst/>
                <a:latin typeface="Times New Roman" panose="02020603050405020304" pitchFamily="18" charset="0"/>
              </a:rPr>
              <a:t>The state diagram for a process captures its life-cycle. The states represent the execution status of the process; the transitions represent changes of execution state.</a:t>
            </a:r>
          </a:p>
          <a:p>
            <a:r>
              <a:rPr lang="en-US" b="0" i="0" dirty="0" smtClean="0">
                <a:solidFill>
                  <a:srgbClr val="000000"/>
                </a:solidFill>
                <a:effectLst/>
                <a:latin typeface="Times New Roman" panose="02020603050405020304" pitchFamily="18" charset="0"/>
              </a:rPr>
              <a:t>Each active process has its own execution status, so there is a state diagram for each process. There are relationships between the states of various processes that are maintained by the operating system.</a:t>
            </a:r>
            <a:endParaRPr lang="en-US" b="0" i="0" dirty="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2687085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States</a:t>
            </a:r>
            <a:br>
              <a:rPr lang="en-US" b="1" dirty="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19946" y="1690688"/>
            <a:ext cx="6429375" cy="2714625"/>
          </a:xfrm>
        </p:spPr>
      </p:pic>
      <p:sp>
        <p:nvSpPr>
          <p:cNvPr id="5" name="Rectangle 4"/>
          <p:cNvSpPr/>
          <p:nvPr/>
        </p:nvSpPr>
        <p:spPr>
          <a:xfrm>
            <a:off x="3453825" y="4524889"/>
            <a:ext cx="4961615" cy="369332"/>
          </a:xfrm>
          <a:prstGeom prst="rect">
            <a:avLst/>
          </a:prstGeom>
        </p:spPr>
        <p:txBody>
          <a:bodyPr wrap="none">
            <a:spAutoFit/>
          </a:bodyPr>
          <a:lstStyle/>
          <a:p>
            <a:r>
              <a:rPr lang="en-US" dirty="0">
                <a:solidFill>
                  <a:srgbClr val="000000"/>
                </a:solidFill>
                <a:latin typeface="Times New Roman" panose="02020603050405020304" pitchFamily="18" charset="0"/>
              </a:rPr>
              <a:t>The state of a process represent its execution status.</a:t>
            </a:r>
            <a:endParaRPr lang="en-US" dirty="0"/>
          </a:p>
        </p:txBody>
      </p:sp>
    </p:spTree>
    <p:extLst>
      <p:ext uri="{BB962C8B-B14F-4D97-AF65-F5344CB8AC3E}">
        <p14:creationId xmlns:p14="http://schemas.microsoft.com/office/powerpoint/2010/main" val="29802220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Ready</a:t>
            </a:r>
            <a:br>
              <a:rPr lang="en-US" b="1" dirty="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5441" y="1460640"/>
            <a:ext cx="6429375" cy="2714625"/>
          </a:xfrm>
        </p:spPr>
      </p:pic>
      <p:sp>
        <p:nvSpPr>
          <p:cNvPr id="5" name="Rectangle 4"/>
          <p:cNvSpPr/>
          <p:nvPr/>
        </p:nvSpPr>
        <p:spPr>
          <a:xfrm>
            <a:off x="1317812" y="4594429"/>
            <a:ext cx="10035988" cy="646331"/>
          </a:xfrm>
          <a:prstGeom prst="rect">
            <a:avLst/>
          </a:prstGeom>
        </p:spPr>
        <p:txBody>
          <a:bodyPr wrap="square">
            <a:spAutoFit/>
          </a:bodyPr>
          <a:lstStyle/>
          <a:p>
            <a:r>
              <a:rPr lang="en-US" dirty="0">
                <a:solidFill>
                  <a:srgbClr val="000000"/>
                </a:solidFill>
                <a:latin typeface="Times New Roman" panose="02020603050405020304" pitchFamily="18" charset="0"/>
              </a:rPr>
              <a:t>A process in the ready state has all of the resources that it needs for further execution except for a processor. It is normally held in a ready queue until a processor becomes available.</a:t>
            </a:r>
            <a:endParaRPr lang="en-US" dirty="0"/>
          </a:p>
        </p:txBody>
      </p:sp>
    </p:spTree>
    <p:extLst>
      <p:ext uri="{BB962C8B-B14F-4D97-AF65-F5344CB8AC3E}">
        <p14:creationId xmlns:p14="http://schemas.microsoft.com/office/powerpoint/2010/main" val="676915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Running</a:t>
            </a:r>
            <a:br>
              <a:rPr lang="en-US" b="1" dirty="0"/>
            </a:br>
            <a:r>
              <a:rPr lang="en-US" b="1" dirty="0"/>
              <a:t/>
            </a:r>
            <a:br>
              <a:rPr lang="en-US" b="1" dirty="0"/>
            </a:br>
            <a:endParaRPr lang="en-US" dirty="0"/>
          </a:p>
        </p:txBody>
      </p:sp>
      <p:sp>
        <p:nvSpPr>
          <p:cNvPr id="5" name="Rectangle 4"/>
          <p:cNvSpPr/>
          <p:nvPr/>
        </p:nvSpPr>
        <p:spPr>
          <a:xfrm>
            <a:off x="1317812" y="4594429"/>
            <a:ext cx="10035988" cy="646331"/>
          </a:xfrm>
          <a:prstGeom prst="rect">
            <a:avLst/>
          </a:prstGeom>
        </p:spPr>
        <p:txBody>
          <a:bodyPr wrap="square">
            <a:spAutoFit/>
          </a:bodyPr>
          <a:lstStyle/>
          <a:p>
            <a:r>
              <a:rPr lang="en-US" dirty="0"/>
              <a:t>A process in the running state has all of the resources that it needs for further execution, including a processor.</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81312" y="1690688"/>
            <a:ext cx="6429375" cy="2714625"/>
          </a:xfrm>
        </p:spPr>
      </p:pic>
    </p:spTree>
    <p:extLst>
      <p:ext uri="{BB962C8B-B14F-4D97-AF65-F5344CB8AC3E}">
        <p14:creationId xmlns:p14="http://schemas.microsoft.com/office/powerpoint/2010/main" val="29363661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Blocked</a:t>
            </a:r>
            <a:br>
              <a:rPr lang="en-US" b="1" dirty="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87183" y="1151358"/>
            <a:ext cx="6429375" cy="2714625"/>
          </a:xfrm>
        </p:spPr>
      </p:pic>
      <p:sp>
        <p:nvSpPr>
          <p:cNvPr id="5" name="Rectangle 4"/>
          <p:cNvSpPr/>
          <p:nvPr/>
        </p:nvSpPr>
        <p:spPr>
          <a:xfrm>
            <a:off x="1021976" y="4190551"/>
            <a:ext cx="10331824" cy="646331"/>
          </a:xfrm>
          <a:prstGeom prst="rect">
            <a:avLst/>
          </a:prstGeom>
        </p:spPr>
        <p:txBody>
          <a:bodyPr wrap="square">
            <a:spAutoFit/>
          </a:bodyPr>
          <a:lstStyle/>
          <a:p>
            <a:r>
              <a:rPr lang="en-US" dirty="0">
                <a:solidFill>
                  <a:srgbClr val="000000"/>
                </a:solidFill>
                <a:latin typeface="Times New Roman" panose="02020603050405020304" pitchFamily="18" charset="0"/>
              </a:rPr>
              <a:t>A process that needs some resource other than a processor for further execution is in a blocked state. It is usually placed in a queue waiting for the needed resource.</a:t>
            </a:r>
            <a:endParaRPr lang="en-US" dirty="0"/>
          </a:p>
        </p:txBody>
      </p:sp>
    </p:spTree>
    <p:extLst>
      <p:ext uri="{BB962C8B-B14F-4D97-AF65-F5344CB8AC3E}">
        <p14:creationId xmlns:p14="http://schemas.microsoft.com/office/powerpoint/2010/main" val="16270360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Transitions</a:t>
            </a:r>
            <a:br>
              <a:rPr lang="en-US" b="1" dirty="0"/>
            </a:br>
            <a:r>
              <a:rPr lang="en-US" dirty="0"/>
              <a:t/>
            </a:r>
            <a:br>
              <a:rPr lang="en-US" dirty="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2677" y="1164805"/>
            <a:ext cx="6429375" cy="2714625"/>
          </a:xfrm>
        </p:spPr>
      </p:pic>
      <p:sp>
        <p:nvSpPr>
          <p:cNvPr id="5" name="Rectangle 4"/>
          <p:cNvSpPr/>
          <p:nvPr/>
        </p:nvSpPr>
        <p:spPr>
          <a:xfrm>
            <a:off x="1425388" y="4712681"/>
            <a:ext cx="9802906" cy="646331"/>
          </a:xfrm>
          <a:prstGeom prst="rect">
            <a:avLst/>
          </a:prstGeom>
        </p:spPr>
        <p:txBody>
          <a:bodyPr wrap="square">
            <a:spAutoFit/>
          </a:bodyPr>
          <a:lstStyle/>
          <a:p>
            <a:r>
              <a:rPr lang="en-US" dirty="0">
                <a:solidFill>
                  <a:srgbClr val="000000"/>
                </a:solidFill>
                <a:latin typeface="Times New Roman" panose="02020603050405020304" pitchFamily="18" charset="0"/>
              </a:rPr>
              <a:t>The transitions of a process represent changes of its execution state. The transitions can be described in terms of their causes and the resulting actions taken by the operating system.</a:t>
            </a:r>
            <a:endParaRPr lang="en-US" dirty="0"/>
          </a:p>
        </p:txBody>
      </p:sp>
    </p:spTree>
    <p:extLst>
      <p:ext uri="{BB962C8B-B14F-4D97-AF65-F5344CB8AC3E}">
        <p14:creationId xmlns:p14="http://schemas.microsoft.com/office/powerpoint/2010/main" val="31127180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Creation</a:t>
            </a:r>
            <a:br>
              <a:rPr lang="en-US" b="1" dirty="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81312" y="1151357"/>
            <a:ext cx="6429375" cy="2714625"/>
          </a:xfrm>
        </p:spPr>
      </p:pic>
      <p:sp>
        <p:nvSpPr>
          <p:cNvPr id="5" name="Rectangle 4"/>
          <p:cNvSpPr/>
          <p:nvPr/>
        </p:nvSpPr>
        <p:spPr>
          <a:xfrm>
            <a:off x="1532965" y="4300846"/>
            <a:ext cx="10031506" cy="1754326"/>
          </a:xfrm>
          <a:prstGeom prst="rect">
            <a:avLst/>
          </a:prstGeom>
        </p:spPr>
        <p:txBody>
          <a:bodyPr wrap="square">
            <a:spAutoFit/>
          </a:bodyPr>
          <a:lstStyle/>
          <a:p>
            <a:r>
              <a:rPr lang="en-US" b="1" dirty="0">
                <a:solidFill>
                  <a:srgbClr val="000000"/>
                </a:solidFill>
                <a:latin typeface="Times New Roman" panose="02020603050405020304" pitchFamily="18" charset="0"/>
              </a:rPr>
              <a:t>Cause</a:t>
            </a:r>
          </a:p>
          <a:p>
            <a:r>
              <a:rPr lang="en-US" dirty="0">
                <a:solidFill>
                  <a:srgbClr val="000000"/>
                </a:solidFill>
                <a:latin typeface="Times New Roman" panose="02020603050405020304" pitchFamily="18" charset="0"/>
              </a:rPr>
              <a:t>The creation transition is caused by a </a:t>
            </a:r>
            <a:r>
              <a:rPr lang="en-US" dirty="0" smtClean="0">
                <a:solidFill>
                  <a:srgbClr val="000000"/>
                </a:solidFill>
                <a:latin typeface="Times New Roman" panose="02020603050405020304" pitchFamily="18" charset="0"/>
              </a:rPr>
              <a:t>system call </a:t>
            </a:r>
            <a:r>
              <a:rPr lang="en-US" dirty="0">
                <a:solidFill>
                  <a:srgbClr val="000000"/>
                </a:solidFill>
                <a:latin typeface="Times New Roman" panose="02020603050405020304" pitchFamily="18" charset="0"/>
              </a:rPr>
              <a:t>for loading a program.</a:t>
            </a:r>
          </a:p>
          <a:p>
            <a:r>
              <a:rPr lang="en-US" b="1" dirty="0">
                <a:solidFill>
                  <a:srgbClr val="000000"/>
                </a:solidFill>
                <a:latin typeface="Times New Roman" panose="02020603050405020304" pitchFamily="18" charset="0"/>
              </a:rPr>
              <a:t>Action</a:t>
            </a:r>
          </a:p>
          <a:p>
            <a:r>
              <a:rPr lang="en-US" dirty="0">
                <a:solidFill>
                  <a:srgbClr val="000000"/>
                </a:solidFill>
                <a:latin typeface="Times New Roman" panose="02020603050405020304" pitchFamily="18" charset="0"/>
              </a:rPr>
              <a:t>A process control block is created for the program. It is initialized so that the process starts with cleared registers and PC set to the program's start (main) address. Usually the operating system sets up three open files: standard input, standard output, and standard error.</a:t>
            </a:r>
            <a:endParaRPr lang="en-US" b="0" i="0" dirty="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26224816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Dispatch</a:t>
            </a:r>
            <a:br>
              <a:rPr lang="en-US" b="1" dirty="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81312" y="1027906"/>
            <a:ext cx="6429375" cy="2714625"/>
          </a:xfrm>
        </p:spPr>
      </p:pic>
      <p:sp>
        <p:nvSpPr>
          <p:cNvPr id="5" name="Rectangle 4"/>
          <p:cNvSpPr/>
          <p:nvPr/>
        </p:nvSpPr>
        <p:spPr>
          <a:xfrm>
            <a:off x="838200" y="3551004"/>
            <a:ext cx="10856259" cy="2585323"/>
          </a:xfrm>
          <a:prstGeom prst="rect">
            <a:avLst/>
          </a:prstGeom>
        </p:spPr>
        <p:txBody>
          <a:bodyPr wrap="square">
            <a:spAutoFit/>
          </a:bodyPr>
          <a:lstStyle/>
          <a:p>
            <a:r>
              <a:rPr lang="en-US" b="1" dirty="0">
                <a:solidFill>
                  <a:srgbClr val="000000"/>
                </a:solidFill>
                <a:latin typeface="Times New Roman" panose="02020603050405020304" pitchFamily="18" charset="0"/>
              </a:rPr>
              <a:t>Cause</a:t>
            </a:r>
          </a:p>
          <a:p>
            <a:r>
              <a:rPr lang="en-US" dirty="0">
                <a:solidFill>
                  <a:srgbClr val="000000"/>
                </a:solidFill>
                <a:latin typeface="Times New Roman" panose="02020603050405020304" pitchFamily="18" charset="0"/>
              </a:rPr>
              <a:t>A process is dispatched when a processor is free to execute the process and the operating system has scheduled the process to run next. </a:t>
            </a:r>
            <a:r>
              <a:rPr lang="en-US" i="1" dirty="0">
                <a:solidFill>
                  <a:srgbClr val="000000"/>
                </a:solidFill>
                <a:latin typeface="Times New Roman" panose="02020603050405020304" pitchFamily="18" charset="0"/>
              </a:rPr>
              <a:t>Scheduling</a:t>
            </a:r>
            <a:r>
              <a:rPr lang="en-US" dirty="0">
                <a:solidFill>
                  <a:srgbClr val="000000"/>
                </a:solidFill>
                <a:latin typeface="Times New Roman" panose="02020603050405020304" pitchFamily="18" charset="0"/>
              </a:rPr>
              <a:t> involves selecting one of the ready processes to run next. The choice is often based on which ready process has gone the longest time since it last had a running execution status, but the choice may also involve prioritization of processes.</a:t>
            </a:r>
          </a:p>
          <a:p>
            <a:r>
              <a:rPr lang="en-US" b="1" dirty="0">
                <a:solidFill>
                  <a:srgbClr val="000000"/>
                </a:solidFill>
                <a:latin typeface="Times New Roman" panose="02020603050405020304" pitchFamily="18" charset="0"/>
              </a:rPr>
              <a:t>Action</a:t>
            </a:r>
          </a:p>
          <a:p>
            <a:r>
              <a:rPr lang="en-US" dirty="0">
                <a:solidFill>
                  <a:srgbClr val="000000"/>
                </a:solidFill>
                <a:latin typeface="Times New Roman" panose="02020603050405020304" pitchFamily="18" charset="0"/>
              </a:rPr>
              <a:t>Saved information about the process's register and PC contents is loaded into the processor. The PC contents are typically loaded by executing a jump instruction which, in effect, resumes execution of process code from where it left off.</a:t>
            </a:r>
            <a:endParaRPr lang="en-US" b="0" i="0" dirty="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33795868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Timeout</a:t>
            </a:r>
            <a:br>
              <a:rPr lang="en-US" b="1" dirty="0"/>
            </a:br>
            <a:r>
              <a:rPr lang="en-US" dirty="0"/>
              <a:t/>
            </a:r>
            <a:br>
              <a:rPr lang="en-US" dirty="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81312" y="1027906"/>
            <a:ext cx="6429375" cy="2714625"/>
          </a:xfrm>
        </p:spPr>
      </p:pic>
      <p:sp>
        <p:nvSpPr>
          <p:cNvPr id="5" name="Rectangle 4"/>
          <p:cNvSpPr/>
          <p:nvPr/>
        </p:nvSpPr>
        <p:spPr>
          <a:xfrm>
            <a:off x="838198" y="3742531"/>
            <a:ext cx="10515601" cy="1754326"/>
          </a:xfrm>
          <a:prstGeom prst="rect">
            <a:avLst/>
          </a:prstGeom>
        </p:spPr>
        <p:txBody>
          <a:bodyPr wrap="square">
            <a:spAutoFit/>
          </a:bodyPr>
          <a:lstStyle/>
          <a:p>
            <a:r>
              <a:rPr lang="en-US" b="1" dirty="0">
                <a:solidFill>
                  <a:srgbClr val="000000"/>
                </a:solidFill>
                <a:latin typeface="Times New Roman" panose="02020603050405020304" pitchFamily="18" charset="0"/>
              </a:rPr>
              <a:t>Cause</a:t>
            </a:r>
          </a:p>
          <a:p>
            <a:r>
              <a:rPr lang="en-US" dirty="0">
                <a:solidFill>
                  <a:srgbClr val="000000"/>
                </a:solidFill>
                <a:latin typeface="Times New Roman" panose="02020603050405020304" pitchFamily="18" charset="0"/>
              </a:rPr>
              <a:t>A timeout is triggered by an external interrupt from a timer device.</a:t>
            </a:r>
          </a:p>
          <a:p>
            <a:r>
              <a:rPr lang="en-US" b="1" dirty="0">
                <a:solidFill>
                  <a:srgbClr val="000000"/>
                </a:solidFill>
                <a:latin typeface="Times New Roman" panose="02020603050405020304" pitchFamily="18" charset="0"/>
              </a:rPr>
              <a:t>Action</a:t>
            </a:r>
          </a:p>
          <a:p>
            <a:r>
              <a:rPr lang="en-US" dirty="0">
                <a:solidFill>
                  <a:srgbClr val="000000"/>
                </a:solidFill>
                <a:latin typeface="Times New Roman" panose="02020603050405020304" pitchFamily="18" charset="0"/>
              </a:rPr>
              <a:t>Information about the process's register and PC contents is saved into the PCB for the process. The process then goes into the ready state, where it enters a queue with other ready processes. The operating system will the schedule one of the ready processes and dispatch it.</a:t>
            </a:r>
            <a:endParaRPr lang="en-US" b="0" i="0" dirty="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8568454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Blocking</a:t>
            </a:r>
            <a:br>
              <a:rPr lang="en-US" b="1" dirty="0"/>
            </a:br>
            <a:r>
              <a:rPr lang="en-US" dirty="0"/>
              <a:t/>
            </a:r>
            <a:br>
              <a:rPr lang="en-US" dirty="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56123" y="882417"/>
            <a:ext cx="6429375" cy="2714625"/>
          </a:xfrm>
        </p:spPr>
      </p:pic>
      <p:sp>
        <p:nvSpPr>
          <p:cNvPr id="5" name="Rectangle 4"/>
          <p:cNvSpPr/>
          <p:nvPr/>
        </p:nvSpPr>
        <p:spPr>
          <a:xfrm>
            <a:off x="1075764" y="3499881"/>
            <a:ext cx="10098741" cy="2031325"/>
          </a:xfrm>
          <a:prstGeom prst="rect">
            <a:avLst/>
          </a:prstGeom>
        </p:spPr>
        <p:txBody>
          <a:bodyPr wrap="square">
            <a:spAutoFit/>
          </a:bodyPr>
          <a:lstStyle/>
          <a:p>
            <a:r>
              <a:rPr lang="en-US" b="1" dirty="0">
                <a:solidFill>
                  <a:srgbClr val="000000"/>
                </a:solidFill>
                <a:latin typeface="Times New Roman" panose="02020603050405020304" pitchFamily="18" charset="0"/>
              </a:rPr>
              <a:t>Cause</a:t>
            </a:r>
          </a:p>
          <a:p>
            <a:r>
              <a:rPr lang="en-US" dirty="0">
                <a:solidFill>
                  <a:srgbClr val="000000"/>
                </a:solidFill>
                <a:latin typeface="Times New Roman" panose="02020603050405020304" pitchFamily="18" charset="0"/>
              </a:rPr>
              <a:t>A blocking transition is caused by the process making an operating system request (</a:t>
            </a:r>
            <a:r>
              <a:rPr lang="en-US" dirty="0" err="1">
                <a:solidFill>
                  <a:srgbClr val="000000"/>
                </a:solidFill>
                <a:latin typeface="Times New Roman" panose="02020603050405020304" pitchFamily="18" charset="0"/>
              </a:rPr>
              <a:t>syscall</a:t>
            </a:r>
            <a:r>
              <a:rPr lang="en-US" dirty="0">
                <a:solidFill>
                  <a:srgbClr val="000000"/>
                </a:solidFill>
                <a:latin typeface="Times New Roman" panose="02020603050405020304" pitchFamily="18" charset="0"/>
              </a:rPr>
              <a:t>) that must be satisfied before it can continue executing. The most common type of request is a request for input.</a:t>
            </a:r>
          </a:p>
          <a:p>
            <a:r>
              <a:rPr lang="en-US" b="1" dirty="0">
                <a:solidFill>
                  <a:srgbClr val="000000"/>
                </a:solidFill>
                <a:latin typeface="Times New Roman" panose="02020603050405020304" pitchFamily="18" charset="0"/>
              </a:rPr>
              <a:t>Action</a:t>
            </a:r>
          </a:p>
          <a:p>
            <a:r>
              <a:rPr lang="en-US" dirty="0">
                <a:solidFill>
                  <a:srgbClr val="000000"/>
                </a:solidFill>
                <a:latin typeface="Times New Roman" panose="02020603050405020304" pitchFamily="18" charset="0"/>
              </a:rPr>
              <a:t>The operating system will initiate an action to satisfy the request. For example, for file input from a disk, the operating system will send a signal to the disk initiating the fetch of a block from the disk. The process is put into a blocked state, where it cannot execute until its request is satisfied.</a:t>
            </a:r>
            <a:endParaRPr lang="en-US" b="0" i="0" dirty="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21858264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Unblocking</a:t>
            </a:r>
            <a:br>
              <a:rPr lang="en-US" b="1" dirty="0"/>
            </a:br>
            <a:r>
              <a:rPr lang="en-US" dirty="0"/>
              <a:t/>
            </a:r>
            <a:br>
              <a:rPr lang="en-US" dirty="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09912" y="1027906"/>
            <a:ext cx="6429375" cy="2714625"/>
          </a:xfrm>
        </p:spPr>
      </p:pic>
      <p:sp>
        <p:nvSpPr>
          <p:cNvPr id="5" name="Rectangle 4"/>
          <p:cNvSpPr/>
          <p:nvPr/>
        </p:nvSpPr>
        <p:spPr>
          <a:xfrm>
            <a:off x="1335740" y="3742531"/>
            <a:ext cx="9977718" cy="2308324"/>
          </a:xfrm>
          <a:prstGeom prst="rect">
            <a:avLst/>
          </a:prstGeom>
        </p:spPr>
        <p:txBody>
          <a:bodyPr wrap="square">
            <a:spAutoFit/>
          </a:bodyPr>
          <a:lstStyle/>
          <a:p>
            <a:r>
              <a:rPr lang="en-US" b="1" dirty="0">
                <a:solidFill>
                  <a:srgbClr val="000000"/>
                </a:solidFill>
                <a:latin typeface="Times New Roman" panose="02020603050405020304" pitchFamily="18" charset="0"/>
              </a:rPr>
              <a:t>Cause</a:t>
            </a:r>
          </a:p>
          <a:p>
            <a:r>
              <a:rPr lang="en-US" dirty="0">
                <a:solidFill>
                  <a:srgbClr val="000000"/>
                </a:solidFill>
                <a:latin typeface="Times New Roman" panose="02020603050405020304" pitchFamily="18" charset="0"/>
              </a:rPr>
              <a:t>The unblocking transition is triggered by satisfaction of the request that lead to blocking. For example, if a process requested file input from a disk, the satisfaction will occur several milliseconds later when the disk sends an external interrupt indicating that it is ready to transfer the requested block.</a:t>
            </a:r>
          </a:p>
          <a:p>
            <a:r>
              <a:rPr lang="en-US" b="1" dirty="0">
                <a:solidFill>
                  <a:srgbClr val="000000"/>
                </a:solidFill>
                <a:latin typeface="Times New Roman" panose="02020603050405020304" pitchFamily="18" charset="0"/>
              </a:rPr>
              <a:t>Action</a:t>
            </a:r>
          </a:p>
          <a:p>
            <a:r>
              <a:rPr lang="en-US" dirty="0">
                <a:solidFill>
                  <a:srgbClr val="000000"/>
                </a:solidFill>
                <a:latin typeface="Times New Roman" panose="02020603050405020304" pitchFamily="18" charset="0"/>
              </a:rPr>
              <a:t>After the operating system has handled the request satisfaction it puts the process into the ready state, entering it into the ready queue. In the file read example, handling the request means storing the block contents in a file structure for the process.</a:t>
            </a:r>
            <a:endParaRPr lang="en-US" b="0" i="0" dirty="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17501052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Termination</a:t>
            </a:r>
            <a:br>
              <a:rPr lang="en-US" b="1" dirty="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23359" y="1218593"/>
            <a:ext cx="6429375" cy="2714625"/>
          </a:xfrm>
        </p:spPr>
      </p:pic>
      <p:sp>
        <p:nvSpPr>
          <p:cNvPr id="5" name="Rectangle 4"/>
          <p:cNvSpPr/>
          <p:nvPr/>
        </p:nvSpPr>
        <p:spPr>
          <a:xfrm>
            <a:off x="838200" y="3933218"/>
            <a:ext cx="10363200" cy="1754326"/>
          </a:xfrm>
          <a:prstGeom prst="rect">
            <a:avLst/>
          </a:prstGeom>
        </p:spPr>
        <p:txBody>
          <a:bodyPr wrap="square">
            <a:spAutoFit/>
          </a:bodyPr>
          <a:lstStyle/>
          <a:p>
            <a:r>
              <a:rPr lang="en-US" b="1" dirty="0">
                <a:solidFill>
                  <a:srgbClr val="000000"/>
                </a:solidFill>
                <a:latin typeface="Times New Roman" panose="02020603050405020304" pitchFamily="18" charset="0"/>
              </a:rPr>
              <a:t>Cause</a:t>
            </a:r>
          </a:p>
          <a:p>
            <a:r>
              <a:rPr lang="en-US" dirty="0">
                <a:solidFill>
                  <a:srgbClr val="000000"/>
                </a:solidFill>
                <a:latin typeface="Times New Roman" panose="02020603050405020304" pitchFamily="18" charset="0"/>
              </a:rPr>
              <a:t>The termination transition may be triggered by an exit </a:t>
            </a:r>
            <a:r>
              <a:rPr lang="en-US" dirty="0" err="1">
                <a:solidFill>
                  <a:srgbClr val="000000"/>
                </a:solidFill>
                <a:latin typeface="Times New Roman" panose="02020603050405020304" pitchFamily="18" charset="0"/>
              </a:rPr>
              <a:t>syscall</a:t>
            </a:r>
            <a:r>
              <a:rPr lang="en-US" dirty="0">
                <a:solidFill>
                  <a:srgbClr val="000000"/>
                </a:solidFill>
                <a:latin typeface="Times New Roman" panose="02020603050405020304" pitchFamily="18" charset="0"/>
              </a:rPr>
              <a:t> from the process (normal termination) or by a processor exception (abnormal termination).</a:t>
            </a:r>
          </a:p>
          <a:p>
            <a:r>
              <a:rPr lang="en-US" b="1" dirty="0">
                <a:solidFill>
                  <a:srgbClr val="000000"/>
                </a:solidFill>
                <a:latin typeface="Times New Roman" panose="02020603050405020304" pitchFamily="18" charset="0"/>
              </a:rPr>
              <a:t>Action</a:t>
            </a:r>
          </a:p>
          <a:p>
            <a:r>
              <a:rPr lang="en-US" dirty="0">
                <a:solidFill>
                  <a:srgbClr val="000000"/>
                </a:solidFill>
                <a:latin typeface="Times New Roman" panose="02020603050405020304" pitchFamily="18" charset="0"/>
              </a:rPr>
              <a:t>The operating system frees up any resources used by the process. If the termination is abnormal an error message is displayed.</a:t>
            </a:r>
            <a:endParaRPr lang="en-US" b="0" i="0" dirty="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358257592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Process Control Block</a:t>
            </a:r>
            <a:br>
              <a:rPr lang="en-US" b="1" dirty="0"/>
            </a:br>
            <a:endParaRPr lang="en-US" dirty="0"/>
          </a:p>
        </p:txBody>
      </p:sp>
      <p:sp>
        <p:nvSpPr>
          <p:cNvPr id="3" name="Content Placeholder 2"/>
          <p:cNvSpPr>
            <a:spLocks noGrp="1"/>
          </p:cNvSpPr>
          <p:nvPr>
            <p:ph idx="1"/>
          </p:nvPr>
        </p:nvSpPr>
        <p:spPr/>
        <p:txBody>
          <a:bodyPr/>
          <a:lstStyle/>
          <a:p>
            <a:r>
              <a:rPr lang="en-US" dirty="0"/>
              <a:t>An operating system maintains a structure called a </a:t>
            </a:r>
            <a:r>
              <a:rPr lang="en-US" i="1" dirty="0"/>
              <a:t>process control block (PCB)</a:t>
            </a:r>
            <a:r>
              <a:rPr lang="en-US" dirty="0"/>
              <a:t> for each of its active processes. The PCB for a process contains or refers to the following kinds of information.</a:t>
            </a:r>
          </a:p>
          <a:p>
            <a:r>
              <a:rPr lang="en-US" dirty="0"/>
              <a:t>resource management information</a:t>
            </a:r>
          </a:p>
          <a:p>
            <a:r>
              <a:rPr lang="en-US" dirty="0"/>
              <a:t>administrative information</a:t>
            </a:r>
          </a:p>
          <a:p>
            <a:r>
              <a:rPr lang="en-US" dirty="0"/>
              <a:t>an execution snapshot</a:t>
            </a:r>
          </a:p>
          <a:p>
            <a:endParaRPr lang="en-US" dirty="0"/>
          </a:p>
        </p:txBody>
      </p:sp>
    </p:spTree>
    <p:extLst>
      <p:ext uri="{BB962C8B-B14F-4D97-AF65-F5344CB8AC3E}">
        <p14:creationId xmlns:p14="http://schemas.microsoft.com/office/powerpoint/2010/main" val="22303061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Resource Management Information</a:t>
            </a:r>
            <a:br>
              <a:rPr lang="en-US" b="1" dirty="0"/>
            </a:br>
            <a:endParaRPr lang="en-US" dirty="0"/>
          </a:p>
        </p:txBody>
      </p:sp>
      <p:sp>
        <p:nvSpPr>
          <p:cNvPr id="3" name="Content Placeholder 2"/>
          <p:cNvSpPr>
            <a:spLocks noGrp="1"/>
          </p:cNvSpPr>
          <p:nvPr>
            <p:ph idx="1"/>
          </p:nvPr>
        </p:nvSpPr>
        <p:spPr/>
        <p:txBody>
          <a:bodyPr/>
          <a:lstStyle/>
          <a:p>
            <a:r>
              <a:rPr lang="en-US" dirty="0"/>
              <a:t>Resource management information includes all information about resources other than </a:t>
            </a:r>
            <a:r>
              <a:rPr lang="en-US" dirty="0" err="1"/>
              <a:t>than</a:t>
            </a:r>
            <a:r>
              <a:rPr lang="en-US" dirty="0"/>
              <a:t> the processor that a process is using. This includes page tables and open files and I/O streams. In addition, most operating systems support command-line arguments and environment variables for programs. The resource information for such operating systems contains references to structures containing the command-line arguments and environment variables.</a:t>
            </a:r>
          </a:p>
        </p:txBody>
      </p:sp>
    </p:spTree>
    <p:extLst>
      <p:ext uri="{BB962C8B-B14F-4D97-AF65-F5344CB8AC3E}">
        <p14:creationId xmlns:p14="http://schemas.microsoft.com/office/powerpoint/2010/main" val="28238258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Administrative Information</a:t>
            </a:r>
            <a:br>
              <a:rPr lang="en-US" b="1" dirty="0"/>
            </a:br>
            <a:endParaRPr lang="en-US" dirty="0"/>
          </a:p>
        </p:txBody>
      </p:sp>
      <p:sp>
        <p:nvSpPr>
          <p:cNvPr id="3" name="Content Placeholder 2"/>
          <p:cNvSpPr>
            <a:spLocks noGrp="1"/>
          </p:cNvSpPr>
          <p:nvPr>
            <p:ph idx="1"/>
          </p:nvPr>
        </p:nvSpPr>
        <p:spPr/>
        <p:txBody>
          <a:bodyPr/>
          <a:lstStyle/>
          <a:p>
            <a:r>
              <a:rPr lang="en-US" dirty="0"/>
              <a:t>Administrative information includes a process identifier, resource usage information (such as execution time), process ownership, and any kind of administrative data needed by system administrators for running their system securely.</a:t>
            </a:r>
          </a:p>
        </p:txBody>
      </p:sp>
    </p:spTree>
    <p:extLst>
      <p:ext uri="{BB962C8B-B14F-4D97-AF65-F5344CB8AC3E}">
        <p14:creationId xmlns:p14="http://schemas.microsoft.com/office/powerpoint/2010/main" val="29508218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Execution Snapshot</a:t>
            </a:r>
            <a:br>
              <a:rPr lang="en-US" b="1" dirty="0"/>
            </a:br>
            <a:endParaRPr lang="en-US" dirty="0"/>
          </a:p>
        </p:txBody>
      </p:sp>
      <p:sp>
        <p:nvSpPr>
          <p:cNvPr id="3" name="Content Placeholder 2"/>
          <p:cNvSpPr>
            <a:spLocks noGrp="1"/>
          </p:cNvSpPr>
          <p:nvPr>
            <p:ph idx="1"/>
          </p:nvPr>
        </p:nvSpPr>
        <p:spPr/>
        <p:txBody>
          <a:bodyPr/>
          <a:lstStyle/>
          <a:p>
            <a:r>
              <a:rPr lang="en-US" dirty="0"/>
              <a:t>The execution snapshot captures any information about a process that is required to resume its operation from the time when the snapshot was taken. The contents are somewhat dependent on the processor, but always include register and PC contents.</a:t>
            </a:r>
          </a:p>
        </p:txBody>
      </p:sp>
    </p:spTree>
    <p:extLst>
      <p:ext uri="{BB962C8B-B14F-4D97-AF65-F5344CB8AC3E}">
        <p14:creationId xmlns:p14="http://schemas.microsoft.com/office/powerpoint/2010/main" val="151556522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Threads</a:t>
            </a:r>
            <a:br>
              <a:rPr lang="en-US" b="1" dirty="0"/>
            </a:br>
            <a:endParaRPr lang="en-US" dirty="0"/>
          </a:p>
        </p:txBody>
      </p:sp>
      <p:sp>
        <p:nvSpPr>
          <p:cNvPr id="3" name="Content Placeholder 2"/>
          <p:cNvSpPr>
            <a:spLocks noGrp="1"/>
          </p:cNvSpPr>
          <p:nvPr>
            <p:ph idx="1"/>
          </p:nvPr>
        </p:nvSpPr>
        <p:spPr/>
        <p:txBody>
          <a:bodyPr>
            <a:normAutofit fontScale="62500" lnSpcReduction="20000"/>
          </a:bodyPr>
          <a:lstStyle/>
          <a:p>
            <a:r>
              <a:rPr lang="en-US" dirty="0"/>
              <a:t>Modern operating systems allow a process to be divided into multiple threads of execution. The threads within a process share all process management information except for information directly related to execution. This information is moved out of the PCB into thread control block (TCBs).</a:t>
            </a:r>
          </a:p>
          <a:p>
            <a:r>
              <a:rPr lang="en-US" dirty="0"/>
              <a:t>Threads in a process can execute different parts of the program code at the same time. They can also execute the same parts of the code at the same time, but with different execution state:</a:t>
            </a:r>
          </a:p>
          <a:p>
            <a:r>
              <a:rPr lang="en-US" dirty="0"/>
              <a:t>They have independent current instructions; that is, they have (or appear to have) independent program counters.</a:t>
            </a:r>
          </a:p>
          <a:p>
            <a:r>
              <a:rPr lang="en-US" dirty="0"/>
              <a:t>They are working with different data; that is, they are (or appear to be) working with independent registers.</a:t>
            </a:r>
          </a:p>
          <a:p>
            <a:r>
              <a:rPr lang="en-US" dirty="0"/>
              <a:t>This is accomplished by moving execution state out of the PCB into thread control blocks (TCBs). Each thread has its own TCB.</a:t>
            </a:r>
          </a:p>
          <a:p>
            <a:r>
              <a:rPr lang="en-US" dirty="0"/>
              <a:t>Processes start out with a single main thread. The main thread can create new threads using a thread fork system call. The new threads can also use this system call to create more threads. Consequently, a thread not only belongs to a process; it also has a parent thread - the thread that created it.</a:t>
            </a:r>
          </a:p>
          <a:p>
            <a:r>
              <a:rPr lang="en-US" b="1" dirty="0"/>
              <a:t>Disclaimer</a:t>
            </a:r>
          </a:p>
          <a:p>
            <a:r>
              <a:rPr lang="en-US" dirty="0"/>
              <a:t>Different operating systems handle threads in different ways. The description given here should be regarded as only an approximation. It is based on the Mach operating system kernel.</a:t>
            </a:r>
          </a:p>
          <a:p>
            <a:endParaRPr lang="en-US" dirty="0"/>
          </a:p>
        </p:txBody>
      </p:sp>
    </p:spTree>
    <p:extLst>
      <p:ext uri="{BB962C8B-B14F-4D97-AF65-F5344CB8AC3E}">
        <p14:creationId xmlns:p14="http://schemas.microsoft.com/office/powerpoint/2010/main" val="12616335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Thread Control Block</a:t>
            </a:r>
            <a:br>
              <a:rPr lang="en-US" b="1" dirty="0"/>
            </a:br>
            <a:endParaRPr lang="en-US" dirty="0"/>
          </a:p>
        </p:txBody>
      </p:sp>
      <p:sp>
        <p:nvSpPr>
          <p:cNvPr id="3" name="Content Placeholder 2"/>
          <p:cNvSpPr>
            <a:spLocks noGrp="1"/>
          </p:cNvSpPr>
          <p:nvPr>
            <p:ph idx="1"/>
          </p:nvPr>
        </p:nvSpPr>
        <p:spPr/>
        <p:txBody>
          <a:bodyPr/>
          <a:lstStyle/>
          <a:p>
            <a:r>
              <a:rPr lang="en-US" dirty="0"/>
              <a:t>A </a:t>
            </a:r>
            <a:r>
              <a:rPr lang="en-US" i="1" dirty="0"/>
              <a:t>thread control block (TCB)</a:t>
            </a:r>
            <a:r>
              <a:rPr lang="en-US" dirty="0"/>
              <a:t> contains a thread identifier, a reference to the PCB for the process to which it belongs, a reference to the TCB for the thread that created it, and an execution snapshot.</a:t>
            </a:r>
          </a:p>
          <a:p>
            <a:r>
              <a:rPr lang="en-US" dirty="0"/>
              <a:t>A thread has indirect access to non-execution related resources through the PCB of the process to which it belongs. Thus threads within a process share memory, open files, and I/O streams.</a:t>
            </a:r>
          </a:p>
          <a:p>
            <a:endParaRPr lang="en-US" dirty="0"/>
          </a:p>
        </p:txBody>
      </p:sp>
    </p:spTree>
    <p:extLst>
      <p:ext uri="{BB962C8B-B14F-4D97-AF65-F5344CB8AC3E}">
        <p14:creationId xmlns:p14="http://schemas.microsoft.com/office/powerpoint/2010/main" val="267492301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Thread Fork</a:t>
            </a:r>
            <a:br>
              <a:rPr lang="en-US" b="1" dirty="0"/>
            </a:br>
            <a:endParaRPr lang="en-US" dirty="0"/>
          </a:p>
        </p:txBody>
      </p:sp>
      <p:sp>
        <p:nvSpPr>
          <p:cNvPr id="3" name="Content Placeholder 2"/>
          <p:cNvSpPr>
            <a:spLocks noGrp="1"/>
          </p:cNvSpPr>
          <p:nvPr>
            <p:ph idx="1"/>
          </p:nvPr>
        </p:nvSpPr>
        <p:spPr/>
        <p:txBody>
          <a:bodyPr>
            <a:normAutofit fontScale="62500" lnSpcReduction="20000"/>
          </a:bodyPr>
          <a:lstStyle/>
          <a:p>
            <a:r>
              <a:rPr lang="en-US"/>
              <a:t>A </a:t>
            </a:r>
            <a:r>
              <a:rPr lang="en-US" i="1"/>
              <a:t>thread fork</a:t>
            </a:r>
            <a:r>
              <a:rPr lang="en-US"/>
              <a:t> operation behaves like a function call. It creates a new child thread whose execution snapshot is identical to the parent thread's snapshot except for the register that contains the function return value. For the child thread the return value is 0; for the parent the return value is the child thread's thread identifier.</a:t>
            </a:r>
          </a:p>
          <a:p>
            <a:r>
              <a:rPr lang="en-US"/>
              <a:t>Normally, the return value is used in the condition of an if-else statement. If the return value is 0 then child code is executed; otherwise, parent code is executed.</a:t>
            </a:r>
          </a:p>
          <a:p>
            <a:r>
              <a:rPr lang="en-US"/>
              <a:t>At the system call level, a thread fork operation involves</a:t>
            </a:r>
          </a:p>
          <a:p>
            <a:r>
              <a:rPr lang="en-US"/>
              <a:t>saving a new execution snapshot for the parent thread in its TCB</a:t>
            </a:r>
          </a:p>
          <a:p>
            <a:r>
              <a:rPr lang="en-US"/>
              <a:t>creating a new TCB whose execution snapshot is identical to the parent's execution snapshot</a:t>
            </a:r>
          </a:p>
          <a:p>
            <a:r>
              <a:rPr lang="en-US"/>
              <a:t>changing the return value register in the two snapshots</a:t>
            </a:r>
          </a:p>
          <a:p>
            <a:r>
              <a:rPr lang="en-US"/>
              <a:t>The operating system then has the option of</a:t>
            </a:r>
          </a:p>
          <a:p>
            <a:r>
              <a:rPr lang="en-US"/>
              <a:t>dispatching the child, putting the parent in the ready queue, or</a:t>
            </a:r>
          </a:p>
          <a:p>
            <a:r>
              <a:rPr lang="en-US"/>
              <a:t>dispatching the parent, putting the child in the ready queue, or</a:t>
            </a:r>
          </a:p>
          <a:p>
            <a:r>
              <a:rPr lang="en-US"/>
              <a:t>putting both the child and the parent in the ready queue, scheduling and dispatching a different thread.</a:t>
            </a:r>
          </a:p>
        </p:txBody>
      </p:sp>
    </p:spTree>
    <p:extLst>
      <p:ext uri="{BB962C8B-B14F-4D97-AF65-F5344CB8AC3E}">
        <p14:creationId xmlns:p14="http://schemas.microsoft.com/office/powerpoint/2010/main" val="152104335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Scheduling</a:t>
            </a:r>
            <a:br>
              <a:rPr lang="en-US" dirty="0" smtClean="0"/>
            </a:b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489073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1675</TotalTime>
  <Words>1049</Words>
  <Application>Microsoft Office PowerPoint</Application>
  <PresentationFormat>Widescreen</PresentationFormat>
  <Paragraphs>87</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Times New Roman</vt:lpstr>
      <vt:lpstr>Office Theme</vt:lpstr>
      <vt:lpstr>Processes and Threads </vt:lpstr>
      <vt:lpstr>Processes and Threads </vt:lpstr>
      <vt:lpstr>State Diagram </vt:lpstr>
      <vt:lpstr>State Diagram </vt:lpstr>
      <vt:lpstr>States </vt:lpstr>
      <vt:lpstr>Ready </vt:lpstr>
      <vt:lpstr>Running  </vt:lpstr>
      <vt:lpstr>Blocked </vt:lpstr>
      <vt:lpstr>Transitions  </vt:lpstr>
      <vt:lpstr>Creation </vt:lpstr>
      <vt:lpstr>Dispatch </vt:lpstr>
      <vt:lpstr>Timeout  </vt:lpstr>
      <vt:lpstr>Blocking  </vt:lpstr>
      <vt:lpstr>Unblocking  </vt:lpstr>
      <vt:lpstr>Termination </vt:lpstr>
      <vt:lpstr>Process Control Block </vt:lpstr>
      <vt:lpstr>Resource Management Information </vt:lpstr>
      <vt:lpstr>Administrative Information </vt:lpstr>
      <vt:lpstr>Execution Snapshot </vt:lpstr>
      <vt:lpstr>Threads </vt:lpstr>
      <vt:lpstr>Thread Control Block </vt:lpstr>
      <vt:lpstr>Thread Fork </vt:lpstr>
      <vt:lpstr>Scheduling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Processes and Threads </dc:title>
  <dc:creator>Barkha</dc:creator>
  <cp:lastModifiedBy>aneri</cp:lastModifiedBy>
  <cp:revision>12</cp:revision>
  <dcterms:created xsi:type="dcterms:W3CDTF">2016-06-30T05:18:50Z</dcterms:created>
  <dcterms:modified xsi:type="dcterms:W3CDTF">2018-09-26T19:36:01Z</dcterms:modified>
</cp:coreProperties>
</file>